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4A936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4A936"/>
                </a:solidFill>
                <a:latin typeface="Arial"/>
              </a:rPr>
              <a:t>Asset Allocation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4FE-4E78-B1D3-B1AC6B7C57F7}"/>
              </c:ext>
            </c:extLst>
          </c:dPt>
          <c:dPt>
            <c:idx val="1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FE-4E78-B1D3-B1AC6B7C57F7}"/>
              </c:ext>
            </c:extLst>
          </c:dPt>
          <c:dPt>
            <c:idx val="2"/>
            <c:bubble3D val="0"/>
            <c:spPr>
              <a:solidFill>
                <a:srgbClr val="F4A93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FE-4E78-B1D3-B1AC6B7C57F7}"/>
              </c:ext>
            </c:extLst>
          </c:dPt>
          <c:dPt>
            <c:idx val="3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4FE-4E78-B1D3-B1AC6B7C57F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FE-4E78-B1D3-B1AC6B7C57F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FE-4E78-B1D3-B1AC6B7C57F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4FE-4E78-B1D3-B1AC6B7C57F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4FE-4E78-B1D3-B1AC6B7C57F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Stocks</c:v>
                </c:pt>
                <c:pt idx="1">
                  <c:v>Mutual Funds</c:v>
                </c:pt>
                <c:pt idx="2">
                  <c:v>Crypto</c:v>
                </c:pt>
                <c:pt idx="3">
                  <c:v>ETF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48.5</c:v>
                </c:pt>
                <c:pt idx="1">
                  <c:v>24.3</c:v>
                </c:pt>
                <c:pt idx="2">
                  <c:v>18.3</c:v>
                </c:pt>
                <c:pt idx="3">
                  <c:v>10.7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4FE-4E78-B1D3-B1AC6B7C57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F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FFFFF"/>
                </a:solidFill>
                <a:latin typeface="Arial"/>
              </a:rPr>
              <a:t>Investment Growth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Invested (₹K)</c:v>
                </c:pt>
              </c:strCache>
            </c:strRef>
          </c:tx>
          <c:spPr>
            <a:ln w="31750" cap="flat">
              <a:solidFill>
                <a:srgbClr val="F4A93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936"/>
              </a:solidFill>
              <a:ln w="9525" cap="flat">
                <a:solidFill>
                  <a:srgbClr val="F4A93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</c:v>
                </c:pt>
                <c:pt idx="1">
                  <c:v>62</c:v>
                </c:pt>
                <c:pt idx="2">
                  <c:v>78</c:v>
                </c:pt>
                <c:pt idx="3">
                  <c:v>91</c:v>
                </c:pt>
                <c:pt idx="4">
                  <c:v>110</c:v>
                </c:pt>
                <c:pt idx="5">
                  <c:v>135</c:v>
                </c:pt>
                <c:pt idx="6">
                  <c:v>158</c:v>
                </c:pt>
                <c:pt idx="7">
                  <c:v>178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B59-4923-8D98-75EFEA47BA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Portfolio Value (₹K)</c:v>
                </c:pt>
              </c:strCache>
            </c:strRef>
          </c:tx>
          <c:spPr>
            <a:ln w="31750" cap="flat">
              <a:solidFill>
                <a:srgbClr val="00C8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896"/>
              </a:solidFill>
              <a:ln w="9525" cap="flat">
                <a:solidFill>
                  <a:srgbClr val="00C89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45</c:v>
                </c:pt>
                <c:pt idx="1">
                  <c:v>67</c:v>
                </c:pt>
                <c:pt idx="2">
                  <c:v>83</c:v>
                </c:pt>
                <c:pt idx="3">
                  <c:v>99</c:v>
                </c:pt>
                <c:pt idx="4">
                  <c:v>120</c:v>
                </c:pt>
                <c:pt idx="5">
                  <c:v>148</c:v>
                </c:pt>
                <c:pt idx="6">
                  <c:v>172</c:v>
                </c:pt>
                <c:pt idx="7">
                  <c:v>196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B59-4923-8D98-75EFEA47BA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F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79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548640"/>
            <a:ext cx="2926080" cy="2926080"/>
          </a:xfrm>
          <a:prstGeom prst="ellipse">
            <a:avLst/>
          </a:prstGeom>
          <a:solidFill>
            <a:srgbClr val="1022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840480"/>
            <a:ext cx="640080" cy="640080"/>
          </a:xfrm>
          <a:prstGeom prst="ellipse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4206240"/>
            <a:ext cx="411480" cy="411480"/>
          </a:xfrm>
          <a:prstGeom prst="ellipse">
            <a:avLst/>
          </a:prstGeom>
          <a:solidFill>
            <a:srgbClr val="F4A93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00C89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5" y="886968"/>
            <a:ext cx="269327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DBMS PROJECT  •  2025-2026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PortfolioMate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kern="0" spc="100" dirty="0">
                <a:solidFill>
                  <a:srgbClr val="00C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Smart Investment Tracker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1480" y="2971800"/>
            <a:ext cx="3200400" cy="27432"/>
          </a:xfrm>
          <a:prstGeom prst="rect">
            <a:avLst/>
          </a:prstGeom>
          <a:solidFill>
            <a:srgbClr val="889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1089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</a:t>
            </a: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RA2411030030063</a:t>
            </a: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Sidharth Sagar</a:t>
            </a: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RA2411030030076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99AA"/>
                </a:solidFill>
              </a:rPr>
              <a:t>Guide: Dr. Anirudha Gaikwad  |  SRM Institute of Science &amp; Technology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25603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5603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React 18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256032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25603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Node.js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306324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063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MySQL 8.0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0" y="306324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3063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</a:rPr>
              <a:t>TypeScript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521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896"/>
                </a:solidFill>
                <a:latin typeface="Georgia" pitchFamily="34" charset="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1521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996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of manual tracking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9728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521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896"/>
                </a:solidFill>
                <a:latin typeface="Georgia" pitchFamily="34" charset="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15214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PortfolioMate?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4996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objectives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05740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05740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122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896"/>
                </a:solidFill>
                <a:latin typeface="Georgia" pitchFamily="34" charset="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11226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4597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05740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05740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1122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896"/>
                </a:solidFill>
                <a:latin typeface="Georgia" pitchFamily="34" charset="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211226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(ER + 3NF)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4597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normalization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0175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01752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0723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0723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Features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4198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DB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0175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01752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07238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94960" y="30723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&amp; Results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4198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39776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397764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0325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896"/>
                </a:solidFill>
                <a:latin typeface="Georgia" pitchFamily="34" charset="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05840" y="40325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&amp; Testing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05840" y="43799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validation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9776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977640"/>
            <a:ext cx="64008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0325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896"/>
                </a:solidFill>
                <a:latin typeface="Georgia" pitchFamily="34" charset="0"/>
              </a:rPr>
              <a:t>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394960" y="40325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94960" y="43799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enhancements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Manual Investing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402336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075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3075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tracking multiple assets across brokerages takes hours every week.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402336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3075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69280" y="13075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0" y="16916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 scattered across spreadsheets, statements &amp; portals — no unified view.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017520"/>
            <a:ext cx="402336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182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⚠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31821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566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calculations lead to incorrect P&amp;L figures, missed opportunities.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3017520"/>
            <a:ext cx="402336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182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669280" y="31821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Paralysis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0" y="35661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analytics, investors can't make data-driven financial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PortfolioMate?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4114800" cy="374904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PortfolioMate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full-stack web application for tracking, managing, and analyzing financial investments in real time.
Built on a rigorously normalized MySQL database, it delivers accurate profit/loss insights through an intuitive React dashboard.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1234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12344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1887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54880" y="175564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1234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97280"/>
            <a:ext cx="12344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887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175564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0" y="1097280"/>
            <a:ext cx="1234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0" y="1097280"/>
            <a:ext cx="12344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1887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₿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98080" y="175564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1234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468880"/>
            <a:ext cx="12344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603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754880" y="312724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468880"/>
            <a:ext cx="1234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468880"/>
            <a:ext cx="12344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5603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26480" y="312724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8080" y="2468880"/>
            <a:ext cx="1234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0" y="2468880"/>
            <a:ext cx="123444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25603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498080" y="3127248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39776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AA"/>
                </a:solidFill>
              </a:rPr>
              <a:t>6 Investment Types Supported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Interface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dashboard for all experience levels with responsive design &amp; dark mode.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9748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34440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Asset Tracking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7556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Stocks, Mutual Funds, Crypto, ETFs, Bonds &amp; Real Estate in one place.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9748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20840" y="1234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7556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profit/loss calculations, trend visualizations and portfolio analytics.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269748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108960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63016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financial data with actionable insights through interactive charts.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9748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3108960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8620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63016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 with bcrypt password hashing protecting sensitive financial data.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69748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108960"/>
            <a:ext cx="457200" cy="4572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2084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Integrity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63016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normalized MySQL schema with PK, FK, UNIQUE &amp; CHECK constraints.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— 3-Tier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974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TIER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10972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74520" y="10972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Presentation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957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shadcn/ui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96265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— interactive graphs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52958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(SPA)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0965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HTTP client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2697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97280"/>
            <a:ext cx="2697480" cy="594360"/>
          </a:xfrm>
          <a:prstGeom prst="rect">
            <a:avLst/>
          </a:prstGeom>
          <a:solidFill>
            <a:srgbClr val="F4A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9728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TIER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10972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09160" y="10972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8288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 runtime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23957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REST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296265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352958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password hashing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40965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express-validator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1097280"/>
            <a:ext cx="2697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097280"/>
            <a:ext cx="2697480" cy="594360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109728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TIER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10972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543800" y="10972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Layer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18288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8.0+ database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72200" y="23957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normalized schema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296265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ACID-compliant transactions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52958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joins for speed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409651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MySQL2 Node.js driver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971800" y="2834640"/>
            <a:ext cx="228600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2606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AA"/>
                </a:solidFill>
              </a:rPr>
              <a:t>⇄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806440" y="2834640"/>
            <a:ext cx="228600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2606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AA"/>
                </a:solidFill>
              </a:rPr>
              <a:t>⇄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65AFF30B-7D46-A66F-0839-99DF1234E0B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478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Schema — Third Normal Form (3NF)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solidFill>
            <a:srgbClr val="0A1628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896"/>
                </a:solidFill>
              </a:rPr>
              <a:t>3NF achieved: Separate tables for User, Portfolio, Asset, Transaction, Portfolio_History &amp; Asset_History → eliminates redundancy, prevents anomalies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64208"/>
            <a:ext cx="26974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642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029968"/>
            <a:ext cx="777240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299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Column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88720" y="2029968"/>
            <a:ext cx="822960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029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Type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2029968"/>
            <a:ext cx="822960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2029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Constraint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286000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225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16152" y="23225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57400" y="23225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PRIMARY KEY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2743200"/>
            <a:ext cx="2606040" cy="420624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7797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16152" y="27797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VARCHAR(100)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57400" y="27797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NOT NULL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3200400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2369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16152" y="32369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VARCHAR(150)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057400" y="32369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UNIQUE, NOT NULL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" y="3657600"/>
            <a:ext cx="2606040" cy="420624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6941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16152" y="36941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VARCHAR(255)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057400" y="36941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NOT NULL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4114800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1513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user_type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16152" y="41513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057400" y="41513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DEFAULT 'investor'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0" y="1664208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1664208"/>
            <a:ext cx="26974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16642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46120" y="2029968"/>
            <a:ext cx="777240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20299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Column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23360" y="2029968"/>
            <a:ext cx="822960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2029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Type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2029968"/>
            <a:ext cx="822960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029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Constraint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46120" y="2286000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73552" y="23225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050792" y="23225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92040" y="23225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PRIMARY KEY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46120" y="2743200"/>
            <a:ext cx="2606040" cy="420624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73552" y="27797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portfolio_id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050792" y="27797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92040" y="27797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FK → portfolios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46120" y="3200400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73552" y="32369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050792" y="32369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92040" y="32369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NOT NULL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46120" y="3657600"/>
            <a:ext cx="2606040" cy="420624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73552" y="36941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050792" y="36941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VARCHAR(200)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892040" y="36941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NOT NULL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46120" y="4114800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73552" y="41513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market_value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050792" y="41513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DECIMAL(15,2)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892040" y="41513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NOT NULL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035040" y="1664208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035040" y="1664208"/>
            <a:ext cx="26974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26480" y="16642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6080760" y="2029968"/>
            <a:ext cx="777240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80760" y="20299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Column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858000" y="2029968"/>
            <a:ext cx="822960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58000" y="2029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Type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680960" y="2029968"/>
            <a:ext cx="822960" cy="237744"/>
          </a:xfrm>
          <a:prstGeom prst="rect">
            <a:avLst/>
          </a:prstGeom>
          <a:solidFill>
            <a:srgbClr val="F0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80960" y="2029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Constraint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080760" y="2286000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08192" y="23225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transaction_id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885432" y="23225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726680" y="23225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PRIMARY KEY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080760" y="2743200"/>
            <a:ext cx="2606040" cy="420624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08192" y="27797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asset_id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885432" y="27797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726680" y="27797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FK → assets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080760" y="3200400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08192" y="32369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885432" y="32369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DECIMAL(15,4)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726680" y="32369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NOT NULL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080760" y="3657600"/>
            <a:ext cx="2606040" cy="420624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08192" y="36941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885432" y="36941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DECIMAL(15,2)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726680" y="36941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NOT NULL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6080760" y="4114800"/>
            <a:ext cx="2606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08192" y="415137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transaction_type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885432" y="41513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7726680" y="41513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99AA"/>
                </a:solidFill>
              </a:rPr>
              <a:t>BUY/SELL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 &amp; 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35608"/>
            <a:ext cx="2651760" cy="39319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React 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65376"/>
            <a:ext cx="2651760" cy="393192"/>
          </a:xfrm>
          <a:prstGeom prst="rect">
            <a:avLst/>
          </a:prstGeom>
          <a:solidFill>
            <a:srgbClr val="152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65376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TypeScript 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95144"/>
            <a:ext cx="2651760" cy="39319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95144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Tailwind CSS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2651760" cy="393192"/>
          </a:xfrm>
          <a:prstGeom prst="rect">
            <a:avLst/>
          </a:prstGeom>
          <a:solidFill>
            <a:srgbClr val="152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24912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Recharts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2651760" cy="39319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54680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651760" cy="320040"/>
          </a:xfrm>
          <a:prstGeom prst="rect">
            <a:avLst/>
          </a:prstGeom>
          <a:solidFill>
            <a:srgbClr val="F4A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Backend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1435608"/>
            <a:ext cx="2651760" cy="39319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435608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Node.js 18+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1865376"/>
            <a:ext cx="2651760" cy="393192"/>
          </a:xfrm>
          <a:prstGeom prst="rect">
            <a:avLst/>
          </a:prstGeom>
          <a:solidFill>
            <a:srgbClr val="152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1865376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Express.js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2295144"/>
            <a:ext cx="2651760" cy="39319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295144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JWT Auth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724912"/>
            <a:ext cx="2651760" cy="393192"/>
          </a:xfrm>
          <a:prstGeom prst="rect">
            <a:avLst/>
          </a:prstGeom>
          <a:solidFill>
            <a:srgbClr val="152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724912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bcryptjs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0" y="3154680"/>
            <a:ext cx="2651760" cy="39319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154680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express-validator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1097280"/>
            <a:ext cx="2651760" cy="320040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1097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Database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35040" y="1435608"/>
            <a:ext cx="2651760" cy="39319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435608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MySQL 8.0+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35040" y="1865376"/>
            <a:ext cx="2651760" cy="393192"/>
          </a:xfrm>
          <a:prstGeom prst="rect">
            <a:avLst/>
          </a:prstGeom>
          <a:solidFill>
            <a:srgbClr val="152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1865376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3NF Schema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2295144"/>
            <a:ext cx="2651760" cy="39319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295144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MySQL2 Driver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35040" y="2724912"/>
            <a:ext cx="2651760" cy="393192"/>
          </a:xfrm>
          <a:prstGeom prst="rect">
            <a:avLst/>
          </a:prstGeom>
          <a:solidFill>
            <a:srgbClr val="152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2724912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ACID Compliant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35040" y="3154680"/>
            <a:ext cx="2651760" cy="393192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154680"/>
            <a:ext cx="2423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Indexed Queries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936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5760" y="41605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160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🔐 JWT Auth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514600" y="41605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14600" y="4160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📊 Live Dashboard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41605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4160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📈 P/L Tracking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812280" y="416052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12280" y="4160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🔍 Smart Filter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459943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5994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🌙 Dark Mode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514600" y="459943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14600" y="45994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📱 Responsive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63440" y="459943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45994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📉 Charts &amp; Graphs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812280" y="4599432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1A2E4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12280" y="45994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🛡 Data Integrity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RESTful API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Authentication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3192" y="1572768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F4A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57276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60120" y="1536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/api/users/register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Register new user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04288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" y="2414016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F4A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41401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/api/users/login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6883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Login &amp; get JWT token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145536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3192" y="3255264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325526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3218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/api/users/profile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35295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Get user profile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986784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" y="4096512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409651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60120" y="40599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/api/users/change-password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43708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Update password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1051560"/>
            <a:ext cx="2743200" cy="347472"/>
          </a:xfrm>
          <a:prstGeom prst="rect">
            <a:avLst/>
          </a:prstGeom>
          <a:solidFill>
            <a:srgbClr val="F4A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Investments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0" y="146304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73552" y="1572768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157276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1536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/api/investments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0" y="18470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All investments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2304288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73552" y="2414016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F4A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3552" y="241401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4048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/api/investments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40480" y="26883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Add investment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0" y="3145536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73552" y="3255264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325526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40480" y="3218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/api/investments/:id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40480" y="35295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Update investment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0" y="3986784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73552" y="4096512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F4A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73552" y="409651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40480" y="40599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/api/investments/:id/sell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840480" y="43708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Record sell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80760" y="1051560"/>
            <a:ext cx="27432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1051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Dashboard Analytics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80760" y="1463040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53912" y="1572768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53912" y="1572768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20840" y="1536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/api/dashboard/summary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720840" y="18470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Portfolio stats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80760" y="2304288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153912" y="2414016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53912" y="2414016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720840" y="2377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/api/dashboard/by-type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720840" y="26883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By asset class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80760" y="3145536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53912" y="3255264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53912" y="3255264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720840" y="3218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/api/dashboard/monthly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720840" y="35295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Monthly trends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080760" y="3986784"/>
            <a:ext cx="27432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153912" y="4096512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53912" y="4096512"/>
            <a:ext cx="502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720840" y="40599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/api/dashboard/top-performers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720840" y="43708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</a:rPr>
              <a:t>Best performers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SQL Queries &amp;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29200" cy="1371600"/>
          </a:xfrm>
          <a:prstGeom prst="rect">
            <a:avLst/>
          </a:prstGeom>
          <a:solidFill>
            <a:srgbClr val="0D1F33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936"/>
                </a:solidFill>
              </a:rPr>
              <a:t>P&amp;L Calculation Query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4800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a.name, a.type,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SUM(t.quantity * t.price) AS total_invested,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a.market_value AS current_value,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(a.market_value - SUM(t.quantity * t.price)) AS profit_loss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assets a JOIN transactions t ON a.id = t.asset_id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t.transaction_type = 'BUY'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a.id ORDER BY profit_loss DESC;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50292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514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Investment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2514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31720" y="2514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Invested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63240" y="2514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Current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25146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P&amp;L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34840" y="2514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Return 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52928"/>
            <a:ext cx="5029200" cy="402336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077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Industries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290779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31720" y="29077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₹70,000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63240" y="29077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₹85,000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90779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+₹15,000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34840" y="290779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+21.43%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73552"/>
            <a:ext cx="5029200" cy="402336"/>
          </a:xfrm>
          <a:prstGeom prst="rect">
            <a:avLst/>
          </a:prstGeom>
          <a:solidFill>
            <a:srgbClr val="152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284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08760" y="332841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31720" y="332841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₹28,000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63240" y="332841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₹32,000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3284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+₹4,000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34840" y="332841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+14.29%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694176"/>
            <a:ext cx="5029200" cy="402336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7490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Bluechip Fund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08760" y="37490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31720" y="37490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₹40,000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63240" y="37490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₹42,500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374904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+₹2,500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34840" y="37490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+6.25%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114800"/>
            <a:ext cx="5029200" cy="402336"/>
          </a:xfrm>
          <a:prstGeom prst="rect">
            <a:avLst/>
          </a:prstGeom>
          <a:solidFill>
            <a:srgbClr val="152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16966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50 ETF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08760" y="4169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331720" y="41696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063240" y="41696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₹18,750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416966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-₹1,250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34840" y="41696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-6.25%</a:t>
            </a:r>
            <a:endParaRPr lang="en-US" sz="900" dirty="0"/>
          </a:p>
        </p:txBody>
      </p:sp>
      <p:graphicFrame>
        <p:nvGraphicFramePr>
          <p:cNvPr id="42" name="Chart 0"/>
          <p:cNvGraphicFramePr/>
          <p:nvPr/>
        </p:nvGraphicFramePr>
        <p:xfrm>
          <a:off x="5577840" y="1051560"/>
          <a:ext cx="32461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Enforcement &amp; Data Integrity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936"/>
                </a:solidFill>
              </a:rPr>
              <a:t>Constraint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936"/>
                </a:solidFill>
              </a:rPr>
              <a:t>Applied 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936"/>
                </a:solidFill>
              </a:rPr>
              <a:t>Test Scenario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1051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936"/>
                </a:solidFill>
              </a:rPr>
              <a:t>Result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5544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entity IDs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duplicate 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15544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841248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214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1214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 users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21214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same email twice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1214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8833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 KEY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26883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portfolio_id in assets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268833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asset to nonexistent portfolio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26883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163824"/>
            <a:ext cx="841248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5526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32552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password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31920" y="32552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user without email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325526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730752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221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103120" y="38221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&gt; 0 in users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0" y="38221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age = -5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38221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297680"/>
            <a:ext cx="841248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3891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 DELETE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03120" y="4389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assets.portfolio_id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31920" y="4389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portfolio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75120" y="43891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AUTO-DELETED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896"/>
                </a:solidFill>
              </a:rPr>
              <a:t>⚡  Dashboard loads in 200–400ms  |  JWT adds ~5ms  |  Indexed joins improve query speed by ~60%  |  3NF reduces query complexity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Analytics &amp; Performance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97280"/>
            <a:ext cx="3246120" cy="841248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1097280"/>
            <a:ext cx="64008" cy="841248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0" y="117043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₹1.79L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715000" y="1572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Total Portfolio Value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2084832"/>
            <a:ext cx="3246120" cy="841248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2084832"/>
            <a:ext cx="64008" cy="841248"/>
          </a:xfrm>
          <a:prstGeom prst="rect">
            <a:avLst/>
          </a:prstGeom>
          <a:solidFill>
            <a:srgbClr val="F4A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215798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A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+21.4%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71500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Best Return (Reliance)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577840" y="3072384"/>
            <a:ext cx="3246120" cy="841248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3072384"/>
            <a:ext cx="64008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314553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715000" y="35478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Asset Classes Tracked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577840" y="4059936"/>
            <a:ext cx="3246120" cy="841248"/>
          </a:xfrm>
          <a:prstGeom prst="rect">
            <a:avLst/>
          </a:prstGeom>
          <a:solidFill>
            <a:srgbClr val="1A2E4A"/>
          </a:solidFill>
          <a:ln w="12700">
            <a:solidFill>
              <a:srgbClr val="33333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4059936"/>
            <a:ext cx="64008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0" y="41330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200ms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715000" y="45354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</a:rPr>
              <a:t>Avg Dashboard Load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Enhancements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Current Limitations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26464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✕  No real-time stock price integration (manual updates only)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9384"/>
            <a:ext cx="40233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659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✕  Single currency (INR) — no international portfolio support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32304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688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✕  No mobile native app (responsive web only)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35224"/>
            <a:ext cx="40233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718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✕  Dividend tracking not yet implemented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38144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74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✕  No automated tax calculation module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0233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Future Enhancements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426464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63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🔴 Live Prices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06440" y="1463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Alpha Vantage / Yahoo Finance API integration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929384"/>
            <a:ext cx="40233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🤖 AI Advisor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1965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ML-powered personalized investment recommendations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432304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468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🌍 Multi-Currency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06440" y="2468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Real-time FX conversion for global portfolios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935224"/>
            <a:ext cx="402336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971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📱 Mobile App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06440" y="2971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React Native cross-platform iOS &amp; Android app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438144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📄 Tax Reports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0644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Automated LTCG/STCG tax computation &amp; export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3474720" cy="3474720"/>
          </a:xfrm>
          <a:prstGeom prst="ellipse">
            <a:avLst/>
          </a:prstGeom>
          <a:solidFill>
            <a:srgbClr val="1022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5943600" cy="713232"/>
          </a:xfrm>
          <a:prstGeom prst="rect">
            <a:avLst/>
          </a:prstGeom>
          <a:solidFill>
            <a:srgbClr val="1A2E4A"/>
          </a:solidFill>
          <a:ln w="63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801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29844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full DBMS lifecycle — ER modelling, normalization to 3NF, constraint enforcement &amp; SQL analytics.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84832"/>
            <a:ext cx="5943600" cy="713232"/>
          </a:xfrm>
          <a:prstGeom prst="rect">
            <a:avLst/>
          </a:prstGeom>
          <a:solidFill>
            <a:srgbClr val="1A2E4A"/>
          </a:solidFill>
          <a:ln w="63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1031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12140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production-grade full-stack app with React + Node.js + MySQL — 6 investment types, real-time P&amp;L.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07792"/>
            <a:ext cx="5943600" cy="713232"/>
          </a:xfrm>
          <a:prstGeom prst="rect">
            <a:avLst/>
          </a:prstGeom>
          <a:solidFill>
            <a:srgbClr val="1A2E4A"/>
          </a:solidFill>
          <a:ln w="63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260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94436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queries, 3NF schema &amp; batch API calls deliver a dashboard that loads in under 400ms.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730752"/>
            <a:ext cx="5943600" cy="713232"/>
          </a:xfrm>
          <a:prstGeom prst="rect">
            <a:avLst/>
          </a:prstGeom>
          <a:solidFill>
            <a:srgbClr val="1A2E4A"/>
          </a:solidFill>
          <a:ln w="63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7490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767328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PortfolioMate empowers investors to take data-driven control of their financial future.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1022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70454" y="1188720"/>
            <a:ext cx="675914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1828800" y="2514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32004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338328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1A2E4A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34198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Santosh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3749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96"/>
                </a:solidFill>
              </a:rPr>
              <a:t>RA2411030030063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338328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1A2E4A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34198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Sidharth Sagar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37490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96"/>
                </a:solidFill>
              </a:rPr>
              <a:t>RA2411030030076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A"/>
                </a:solidFill>
              </a:rPr>
              <a:t>Guide: Dr. Anirudha Gaikwad  |  Dept. of CSE, SRM-NCR Delhi Campus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1290</Words>
  <Application>Microsoft Office PowerPoint</Application>
  <PresentationFormat>On-screen Show (16:9)</PresentationFormat>
  <Paragraphs>368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PortfolioMate — Smart Investment Tracker</dc:title>
  <dc:subject>PptxGenJS Presentation</dc:subject>
  <dc:creator>Santosh &amp; Sidharth Sagar</dc:creator>
  <cp:lastModifiedBy>Santosh Kumar</cp:lastModifiedBy>
  <cp:revision>2</cp:revision>
  <dcterms:created xsi:type="dcterms:W3CDTF">2026-04-28T00:11:04Z</dcterms:created>
  <dcterms:modified xsi:type="dcterms:W3CDTF">2026-04-28T00:33:36Z</dcterms:modified>
</cp:coreProperties>
</file>